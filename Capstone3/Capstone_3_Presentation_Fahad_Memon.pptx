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00c02562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00c02562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00c02562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0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503152" y="6428232"/>
            <a:ext cx="25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0D5D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0D5D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203A"/>
          </a:solidFill>
          <a:ln cap="flat" cmpd="sng" w="12700">
            <a:solidFill>
              <a:srgbClr val="122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778801" y="1513175"/>
            <a:ext cx="84333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YouTube Trending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Engagement &amp; Reach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663699" y="3301050"/>
            <a:ext cx="519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D5D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0D5DD"/>
                </a:solidFill>
                <a:latin typeface="Arial"/>
                <a:ea typeface="Arial"/>
                <a:cs typeface="Arial"/>
                <a:sym typeface="Arial"/>
              </a:rPr>
              <a:t>Capstone </a:t>
            </a:r>
            <a:r>
              <a:rPr lang="en-US" sz="1500">
                <a:solidFill>
                  <a:srgbClr val="D0D5DD"/>
                </a:solidFill>
              </a:rPr>
              <a:t>3 </a:t>
            </a:r>
            <a:r>
              <a:rPr b="0" i="0" lang="en-US" sz="1500" u="none" cap="none" strike="noStrike">
                <a:solidFill>
                  <a:srgbClr val="D0D5DD"/>
                </a:solidFill>
                <a:latin typeface="Arial"/>
                <a:ea typeface="Arial"/>
                <a:cs typeface="Arial"/>
                <a:sym typeface="Arial"/>
              </a:rPr>
              <a:t>presentation | b</a:t>
            </a:r>
            <a:r>
              <a:rPr lang="en-US" sz="1500">
                <a:solidFill>
                  <a:srgbClr val="D0D5DD"/>
                </a:solidFill>
              </a:rPr>
              <a:t>y Fahad Memon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" name="Google Shape;27;p4"/>
          <p:cNvCxnSpPr/>
          <p:nvPr/>
        </p:nvCxnSpPr>
        <p:spPr>
          <a:xfrm>
            <a:off x="502920" y="402336"/>
            <a:ext cx="219450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4"/>
          <p:cNvSpPr/>
          <p:nvPr/>
        </p:nvSpPr>
        <p:spPr>
          <a:xfrm>
            <a:off x="502920" y="530352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Problem and client decision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2920" y="13258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488"/>
              </a:buClr>
              <a:buSzPts val="1550"/>
              <a:buFont typeface="Arial"/>
              <a:buNone/>
            </a:pPr>
            <a:r>
              <a:rPr b="1" i="0" lang="en-US" sz="2050" u="none" cap="none" strike="noStrike">
                <a:solidFill>
                  <a:srgbClr val="5E7488"/>
                </a:solidFill>
                <a:latin typeface="Arial"/>
                <a:ea typeface="Arial"/>
                <a:cs typeface="Arial"/>
                <a:sym typeface="Arial"/>
              </a:rPr>
              <a:t>Business problem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309350" y="1325875"/>
            <a:ext cx="305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488"/>
              </a:buClr>
              <a:buSzPts val="1550"/>
              <a:buFont typeface="Arial"/>
              <a:buNone/>
            </a:pPr>
            <a:r>
              <a:rPr b="1" i="0" lang="en-US" sz="2050" u="none" cap="none" strike="noStrike">
                <a:solidFill>
                  <a:srgbClr val="5E7488"/>
                </a:solidFill>
                <a:latin typeface="Arial"/>
                <a:ea typeface="Arial"/>
                <a:cs typeface="Arial"/>
                <a:sym typeface="Arial"/>
              </a:rPr>
              <a:t>What the client can do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77920" y="1600200"/>
            <a:ext cx="49377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700"/>
              <a:buChar char="●"/>
            </a:pPr>
            <a:r>
              <a:rPr lang="en-US" sz="1700">
                <a:solidFill>
                  <a:srgbClr val="18324A"/>
                </a:solidFill>
              </a:rPr>
              <a:t>A media or creator team wants to understand what stronger trending performance looks like across countries.</a:t>
            </a:r>
            <a:endParaRPr sz="1700">
              <a:solidFill>
                <a:srgbClr val="18324A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700"/>
              <a:buChar char="●"/>
            </a:pPr>
            <a:r>
              <a:rPr lang="en-US" sz="1700">
                <a:solidFill>
                  <a:srgbClr val="18324A"/>
                </a:solidFill>
              </a:rPr>
              <a:t>They need guidance on release timing, metadata packaging, and localization for priority videos.</a:t>
            </a:r>
            <a:endParaRPr sz="1700">
              <a:solidFill>
                <a:srgbClr val="18324A"/>
              </a:solidFill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148625" y="1775100"/>
            <a:ext cx="4937700" cy="23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Choose when to publish and promote.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Adjust titles, descriptions, and language strategy.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Use a model to rank which trending entries deserve faster follow-up action.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502920" y="402336"/>
            <a:ext cx="219456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5"/>
          <p:cNvSpPr/>
          <p:nvPr/>
        </p:nvSpPr>
        <p:spPr>
          <a:xfrm>
            <a:off x="502920" y="530352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Data source and sample design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5"/>
          <p:cNvGrpSpPr/>
          <p:nvPr/>
        </p:nvGrpSpPr>
        <p:grpSpPr>
          <a:xfrm>
            <a:off x="3215632" y="1874515"/>
            <a:ext cx="5760720" cy="3108960"/>
            <a:chOff x="502920" y="1234440"/>
            <a:chExt cx="5760720" cy="3108960"/>
          </a:xfrm>
        </p:grpSpPr>
        <p:sp>
          <p:nvSpPr>
            <p:cNvPr id="44" name="Google Shape;44;p5"/>
            <p:cNvSpPr/>
            <p:nvPr/>
          </p:nvSpPr>
          <p:spPr>
            <a:xfrm>
              <a:off x="640080" y="3246120"/>
              <a:ext cx="1783080" cy="109728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2700">
              <a:solidFill>
                <a:srgbClr val="DCE6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" name="Google Shape;45;p5"/>
            <p:cNvGrpSpPr/>
            <p:nvPr/>
          </p:nvGrpSpPr>
          <p:grpSpPr>
            <a:xfrm>
              <a:off x="502920" y="1234440"/>
              <a:ext cx="5760720" cy="3108960"/>
              <a:chOff x="502920" y="1234440"/>
              <a:chExt cx="5760720" cy="3108960"/>
            </a:xfrm>
          </p:grpSpPr>
          <p:sp>
            <p:nvSpPr>
              <p:cNvPr id="46" name="Google Shape;46;p5"/>
              <p:cNvSpPr/>
              <p:nvPr/>
            </p:nvSpPr>
            <p:spPr>
              <a:xfrm>
                <a:off x="502920" y="1234440"/>
                <a:ext cx="557784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50" lIns="250" spcFirstLastPara="1" rIns="250" wrap="square" tIns="2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8324A"/>
                  </a:buClr>
                  <a:buSzPts val="1700"/>
                  <a:buFont typeface="Arial"/>
                  <a:buNone/>
                </a:pPr>
                <a:r>
                  <a:rPr b="0" i="0" lang="en-US" sz="1700" u="none" cap="none" strike="noStrike">
                    <a:solidFill>
                      <a:srgbClr val="18324A"/>
                    </a:solidFill>
                    <a:latin typeface="Arial"/>
                    <a:ea typeface="Arial"/>
                    <a:cs typeface="Arial"/>
                    <a:sym typeface="Arial"/>
                  </a:rPr>
                  <a:t>Kaggle dataset of trending YouTube videos across 113 countries. Working window limited to 2024 and 2025.</a:t>
                </a:r>
                <a:endParaRPr b="0" i="0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5"/>
              <p:cNvSpPr/>
              <p:nvPr/>
            </p:nvSpPr>
            <p:spPr>
              <a:xfrm>
                <a:off x="640080" y="1920240"/>
                <a:ext cx="1783080" cy="1097280"/>
              </a:xfrm>
              <a:prstGeom prst="roundRect">
                <a:avLst>
                  <a:gd fmla="val 5000" name="adj"/>
                </a:avLst>
              </a:prstGeom>
              <a:solidFill>
                <a:srgbClr val="EEF4FF"/>
              </a:solidFill>
              <a:ln cap="flat" cmpd="sng" w="12700">
                <a:solidFill>
                  <a:srgbClr val="DCE6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8" name="Google Shape;48;p5"/>
              <p:cNvCxnSpPr/>
              <p:nvPr/>
            </p:nvCxnSpPr>
            <p:spPr>
              <a:xfrm>
                <a:off x="786384" y="2066544"/>
                <a:ext cx="1490472" cy="0"/>
              </a:xfrm>
              <a:prstGeom prst="straightConnector1">
                <a:avLst/>
              </a:prstGeom>
              <a:noFill/>
              <a:ln cap="flat" cmpd="sng" w="30475">
                <a:solidFill>
                  <a:srgbClr val="2F6B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9" name="Google Shape;49;p5"/>
              <p:cNvSpPr/>
              <p:nvPr/>
            </p:nvSpPr>
            <p:spPr>
              <a:xfrm>
                <a:off x="804672" y="2176272"/>
                <a:ext cx="1453896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8324A"/>
                  </a:buClr>
                  <a:buSzPts val="1900"/>
                  <a:buFont typeface="Play"/>
                  <a:buNone/>
                </a:pPr>
                <a:r>
                  <a:rPr b="1" i="0" lang="en-US" sz="1900" u="none" cap="none" strike="noStrike">
                    <a:solidFill>
                      <a:srgbClr val="18324A"/>
                    </a:solidFill>
                    <a:latin typeface="Play"/>
                    <a:ea typeface="Play"/>
                    <a:cs typeface="Play"/>
                    <a:sym typeface="Play"/>
                  </a:rPr>
                  <a:t>2024</a:t>
                </a:r>
                <a:endParaRPr b="0" i="0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5"/>
              <p:cNvSpPr/>
              <p:nvPr/>
            </p:nvSpPr>
            <p:spPr>
              <a:xfrm>
                <a:off x="804672" y="2606040"/>
                <a:ext cx="1453896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E7488"/>
                  </a:buClr>
                  <a:buSzPts val="1250"/>
                  <a:buFont typeface="Arial"/>
                  <a:buNone/>
                </a:pPr>
                <a:r>
                  <a:rPr b="0" i="0" lang="en-US" sz="1250" u="none" cap="none" strike="noStrike">
                    <a:solidFill>
                      <a:srgbClr val="5E7488"/>
                    </a:solidFill>
                    <a:latin typeface="Arial"/>
                    <a:ea typeface="Arial"/>
                    <a:cs typeface="Arial"/>
                    <a:sym typeface="Arial"/>
                  </a:rPr>
                  <a:t>100,000 rows</a:t>
                </a:r>
                <a:endParaRPr b="0" i="0" sz="12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5"/>
              <p:cNvSpPr/>
              <p:nvPr/>
            </p:nvSpPr>
            <p:spPr>
              <a:xfrm>
                <a:off x="2560320" y="1920240"/>
                <a:ext cx="1783080" cy="1097280"/>
              </a:xfrm>
              <a:prstGeom prst="roundRect">
                <a:avLst>
                  <a:gd fmla="val 5000" name="adj"/>
                </a:avLst>
              </a:prstGeom>
              <a:solidFill>
                <a:srgbClr val="ECFBF8"/>
              </a:solidFill>
              <a:ln cap="flat" cmpd="sng" w="12700">
                <a:solidFill>
                  <a:srgbClr val="DCE6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2" name="Google Shape;52;p5"/>
              <p:cNvCxnSpPr/>
              <p:nvPr/>
            </p:nvCxnSpPr>
            <p:spPr>
              <a:xfrm>
                <a:off x="2706624" y="2066544"/>
                <a:ext cx="1490472" cy="0"/>
              </a:xfrm>
              <a:prstGeom prst="straightConnector1">
                <a:avLst/>
              </a:prstGeom>
              <a:noFill/>
              <a:ln cap="flat" cmpd="sng" w="30475">
                <a:solidFill>
                  <a:srgbClr val="13A38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3" name="Google Shape;53;p5"/>
              <p:cNvSpPr/>
              <p:nvPr/>
            </p:nvSpPr>
            <p:spPr>
              <a:xfrm>
                <a:off x="2724912" y="2176272"/>
                <a:ext cx="1453896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8324A"/>
                  </a:buClr>
                  <a:buSzPts val="1900"/>
                  <a:buFont typeface="Play"/>
                  <a:buNone/>
                </a:pPr>
                <a:r>
                  <a:rPr b="1" i="0" lang="en-US" sz="1900" u="none" cap="none" strike="noStrike">
                    <a:solidFill>
                      <a:srgbClr val="18324A"/>
                    </a:solidFill>
                    <a:latin typeface="Play"/>
                    <a:ea typeface="Play"/>
                    <a:cs typeface="Play"/>
                    <a:sym typeface="Play"/>
                  </a:rPr>
                  <a:t>2025</a:t>
                </a:r>
                <a:endParaRPr b="0" i="0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2724912" y="2606040"/>
                <a:ext cx="1453896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E7488"/>
                  </a:buClr>
                  <a:buSzPts val="1250"/>
                  <a:buFont typeface="Arial"/>
                  <a:buNone/>
                </a:pPr>
                <a:r>
                  <a:rPr b="0" i="0" lang="en-US" sz="1250" u="none" cap="none" strike="noStrike">
                    <a:solidFill>
                      <a:srgbClr val="5E7488"/>
                    </a:solidFill>
                    <a:latin typeface="Arial"/>
                    <a:ea typeface="Arial"/>
                    <a:cs typeface="Arial"/>
                    <a:sym typeface="Arial"/>
                  </a:rPr>
                  <a:t>100,000 rows</a:t>
                </a:r>
                <a:endParaRPr b="0" i="0" sz="12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4480560" y="1920240"/>
                <a:ext cx="1783080" cy="1097280"/>
              </a:xfrm>
              <a:prstGeom prst="roundRect">
                <a:avLst>
                  <a:gd fmla="val 5000" name="adj"/>
                </a:avLst>
              </a:prstGeom>
              <a:solidFill>
                <a:srgbClr val="FFF4E8"/>
              </a:solidFill>
              <a:ln cap="flat" cmpd="sng" w="12700">
                <a:solidFill>
                  <a:srgbClr val="DCE6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6" name="Google Shape;56;p5"/>
              <p:cNvCxnSpPr/>
              <p:nvPr/>
            </p:nvCxnSpPr>
            <p:spPr>
              <a:xfrm>
                <a:off x="4626864" y="2066544"/>
                <a:ext cx="1490472" cy="0"/>
              </a:xfrm>
              <a:prstGeom prst="straightConnector1">
                <a:avLst/>
              </a:prstGeom>
              <a:noFill/>
              <a:ln cap="flat" cmpd="sng" w="30475">
                <a:solidFill>
                  <a:srgbClr val="F28C2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7" name="Google Shape;57;p5"/>
              <p:cNvSpPr/>
              <p:nvPr/>
            </p:nvSpPr>
            <p:spPr>
              <a:xfrm>
                <a:off x="4645152" y="2176272"/>
                <a:ext cx="1453896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8324A"/>
                  </a:buClr>
                  <a:buSzPts val="1900"/>
                  <a:buFont typeface="Play"/>
                  <a:buNone/>
                </a:pPr>
                <a:r>
                  <a:rPr b="1" i="0" lang="en-US" sz="1900" u="none" cap="none" strike="noStrike">
                    <a:solidFill>
                      <a:srgbClr val="18324A"/>
                    </a:solidFill>
                    <a:latin typeface="Play"/>
                    <a:ea typeface="Play"/>
                    <a:cs typeface="Play"/>
                    <a:sym typeface="Play"/>
                  </a:rPr>
                  <a:t>113</a:t>
                </a:r>
                <a:endParaRPr b="0" i="0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4645152" y="2606040"/>
                <a:ext cx="1453896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E7488"/>
                  </a:buClr>
                  <a:buSzPts val="1250"/>
                  <a:buFont typeface="Arial"/>
                  <a:buNone/>
                </a:pPr>
                <a:r>
                  <a:rPr b="0" i="0" lang="en-US" sz="1250" u="none" cap="none" strike="noStrike">
                    <a:solidFill>
                      <a:srgbClr val="5E7488"/>
                    </a:solidFill>
                    <a:latin typeface="Arial"/>
                    <a:ea typeface="Arial"/>
                    <a:cs typeface="Arial"/>
                    <a:sym typeface="Arial"/>
                  </a:rPr>
                  <a:t>Countries</a:t>
                </a:r>
                <a:endParaRPr b="0" i="0" sz="12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9" name="Google Shape;59;p5"/>
              <p:cNvCxnSpPr/>
              <p:nvPr/>
            </p:nvCxnSpPr>
            <p:spPr>
              <a:xfrm>
                <a:off x="786384" y="3392424"/>
                <a:ext cx="1490472" cy="0"/>
              </a:xfrm>
              <a:prstGeom prst="straightConnector1">
                <a:avLst/>
              </a:prstGeom>
              <a:noFill/>
              <a:ln cap="flat" cmpd="sng" w="30475">
                <a:solidFill>
                  <a:srgbClr val="D9E2E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0" name="Google Shape;60;p5"/>
              <p:cNvSpPr/>
              <p:nvPr/>
            </p:nvSpPr>
            <p:spPr>
              <a:xfrm>
                <a:off x="804672" y="3502152"/>
                <a:ext cx="1453896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8324A"/>
                  </a:buClr>
                  <a:buSzPts val="1900"/>
                  <a:buFont typeface="Play"/>
                  <a:buNone/>
                </a:pPr>
                <a:r>
                  <a:rPr b="1" i="0" lang="en-US" sz="1900" u="none" cap="none" strike="noStrike">
                    <a:solidFill>
                      <a:srgbClr val="18324A"/>
                    </a:solidFill>
                    <a:latin typeface="Play"/>
                    <a:ea typeface="Play"/>
                    <a:cs typeface="Play"/>
                    <a:sym typeface="Play"/>
                  </a:rPr>
                  <a:t>91,033</a:t>
                </a:r>
                <a:endParaRPr b="0" i="0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804672" y="3931920"/>
                <a:ext cx="1453896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E7488"/>
                  </a:buClr>
                  <a:buSzPts val="1250"/>
                  <a:buFont typeface="Arial"/>
                  <a:buNone/>
                </a:pPr>
                <a:r>
                  <a:rPr b="0" i="0" lang="en-US" sz="1250" u="none" cap="none" strike="noStrike">
                    <a:solidFill>
                      <a:srgbClr val="5E7488"/>
                    </a:solidFill>
                    <a:latin typeface="Arial"/>
                    <a:ea typeface="Arial"/>
                    <a:cs typeface="Arial"/>
                    <a:sym typeface="Arial"/>
                  </a:rPr>
                  <a:t>Unique videos</a:t>
                </a:r>
                <a:endParaRPr b="0" i="0" sz="12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2560320" y="3246120"/>
                <a:ext cx="1783080" cy="1097280"/>
              </a:xfrm>
              <a:prstGeom prst="roundRect">
                <a:avLst>
                  <a:gd fmla="val 5000" name="adj"/>
                </a:avLst>
              </a:prstGeom>
              <a:solidFill>
                <a:srgbClr val="FFF1EF"/>
              </a:solidFill>
              <a:ln cap="flat" cmpd="sng" w="12700">
                <a:solidFill>
                  <a:srgbClr val="DCE6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3" name="Google Shape;63;p5"/>
              <p:cNvCxnSpPr/>
              <p:nvPr/>
            </p:nvCxnSpPr>
            <p:spPr>
              <a:xfrm>
                <a:off x="2706624" y="3392424"/>
                <a:ext cx="1490472" cy="0"/>
              </a:xfrm>
              <a:prstGeom prst="straightConnector1">
                <a:avLst/>
              </a:prstGeom>
              <a:noFill/>
              <a:ln cap="flat" cmpd="sng" w="30475">
                <a:solidFill>
                  <a:srgbClr val="E84C3D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4" name="Google Shape;64;p5"/>
              <p:cNvSpPr/>
              <p:nvPr/>
            </p:nvSpPr>
            <p:spPr>
              <a:xfrm>
                <a:off x="2724912" y="3502152"/>
                <a:ext cx="1453896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8324A"/>
                  </a:buClr>
                  <a:buSzPts val="1900"/>
                  <a:buFont typeface="Play"/>
                  <a:buNone/>
                </a:pPr>
                <a:r>
                  <a:rPr b="1" i="0" lang="en-US" sz="1900" u="none" cap="none" strike="noStrike">
                    <a:solidFill>
                      <a:srgbClr val="18324A"/>
                    </a:solidFill>
                    <a:latin typeface="Play"/>
                    <a:ea typeface="Play"/>
                    <a:cs typeface="Play"/>
                    <a:sym typeface="Play"/>
                  </a:rPr>
                  <a:t>42</a:t>
                </a:r>
                <a:endParaRPr b="0" i="0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2724912" y="3931920"/>
                <a:ext cx="1453896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E7488"/>
                  </a:buClr>
                  <a:buSzPts val="1250"/>
                  <a:buFont typeface="Arial"/>
                  <a:buNone/>
                </a:pPr>
                <a:r>
                  <a:rPr b="0" i="0" lang="en-US" sz="1250" u="none" cap="none" strike="noStrike">
                    <a:solidFill>
                      <a:srgbClr val="5E7488"/>
                    </a:solidFill>
                    <a:latin typeface="Arial"/>
                    <a:ea typeface="Arial"/>
                    <a:cs typeface="Arial"/>
                    <a:sym typeface="Arial"/>
                  </a:rPr>
                  <a:t>Fixed seed</a:t>
                </a:r>
                <a:endParaRPr b="0" i="0" sz="12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480560" y="3246120"/>
                <a:ext cx="1783080" cy="1097280"/>
              </a:xfrm>
              <a:prstGeom prst="roundRect">
                <a:avLst>
                  <a:gd fmla="val 5000" name="adj"/>
                </a:avLst>
              </a:prstGeom>
              <a:solidFill>
                <a:srgbClr val="EEF4FF"/>
              </a:solidFill>
              <a:ln cap="flat" cmpd="sng" w="12700">
                <a:solidFill>
                  <a:srgbClr val="DCE6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7" name="Google Shape;67;p5"/>
              <p:cNvCxnSpPr/>
              <p:nvPr/>
            </p:nvCxnSpPr>
            <p:spPr>
              <a:xfrm>
                <a:off x="4626864" y="3392424"/>
                <a:ext cx="1490472" cy="0"/>
              </a:xfrm>
              <a:prstGeom prst="straightConnector1">
                <a:avLst/>
              </a:prstGeom>
              <a:noFill/>
              <a:ln cap="flat" cmpd="sng" w="30475">
                <a:solidFill>
                  <a:srgbClr val="2F6B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8" name="Google Shape;68;p5"/>
              <p:cNvSpPr/>
              <p:nvPr/>
            </p:nvSpPr>
            <p:spPr>
              <a:xfrm>
                <a:off x="4645152" y="3502152"/>
                <a:ext cx="1453896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8324A"/>
                  </a:buClr>
                  <a:buSzPts val="1900"/>
                  <a:buFont typeface="Play"/>
                  <a:buNone/>
                </a:pPr>
                <a:r>
                  <a:rPr b="1" i="0" lang="en-US" sz="1900" u="none" cap="none" strike="noStrike">
                    <a:solidFill>
                      <a:srgbClr val="18324A"/>
                    </a:solidFill>
                    <a:latin typeface="Play"/>
                    <a:ea typeface="Play"/>
                    <a:cs typeface="Play"/>
                    <a:sym typeface="Play"/>
                  </a:rPr>
                  <a:t>2 years</a:t>
                </a:r>
                <a:endParaRPr b="0" i="0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645152" y="3931920"/>
                <a:ext cx="1453896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E7488"/>
                  </a:buClr>
                  <a:buSzPts val="1250"/>
                  <a:buFont typeface="Arial"/>
                  <a:buNone/>
                </a:pPr>
                <a:r>
                  <a:rPr b="0" i="0" lang="en-US" sz="1250" u="none" cap="none" strike="noStrike">
                    <a:solidFill>
                      <a:srgbClr val="5E7488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Balanced window</a:t>
                </a:r>
                <a:endParaRPr b="0" i="0" sz="12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" name="Google Shape;76;p6"/>
          <p:cNvCxnSpPr/>
          <p:nvPr/>
        </p:nvCxnSpPr>
        <p:spPr>
          <a:xfrm>
            <a:off x="502920" y="402336"/>
            <a:ext cx="219456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6"/>
          <p:cNvSpPr/>
          <p:nvPr/>
        </p:nvSpPr>
        <p:spPr>
          <a:xfrm>
            <a:off x="502920" y="530352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ANALYSIS FRAME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Project questions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31520" y="1554480"/>
            <a:ext cx="3429000" cy="3291840"/>
          </a:xfrm>
          <a:prstGeom prst="roundRect">
            <a:avLst>
              <a:gd fmla="val 2222" name="adj"/>
            </a:avLst>
          </a:prstGeom>
          <a:solidFill>
            <a:srgbClr val="FFF1E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" name="Google Shape;80;p6"/>
          <p:cNvCxnSpPr/>
          <p:nvPr/>
        </p:nvCxnSpPr>
        <p:spPr>
          <a:xfrm>
            <a:off x="896112" y="1719072"/>
            <a:ext cx="3099816" cy="0"/>
          </a:xfrm>
          <a:prstGeom prst="straightConnector1">
            <a:avLst/>
          </a:prstGeom>
          <a:noFill/>
          <a:ln cap="flat" cmpd="sng" w="25400">
            <a:solidFill>
              <a:srgbClr val="E84C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6"/>
          <p:cNvSpPr/>
          <p:nvPr/>
        </p:nvSpPr>
        <p:spPr>
          <a:xfrm>
            <a:off x="932688" y="1810512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Timing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932688" y="2267712"/>
            <a:ext cx="3026664" cy="2423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How long after publish do videos enter trending?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Does publish day matter for engagement?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379976" y="1554480"/>
            <a:ext cx="3429000" cy="3291840"/>
          </a:xfrm>
          <a:prstGeom prst="roundRect">
            <a:avLst>
              <a:gd fmla="val 2222" name="adj"/>
            </a:avLst>
          </a:prstGeom>
          <a:solidFill>
            <a:srgbClr val="EEF4F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6"/>
          <p:cNvCxnSpPr/>
          <p:nvPr/>
        </p:nvCxnSpPr>
        <p:spPr>
          <a:xfrm>
            <a:off x="4544568" y="1719072"/>
            <a:ext cx="3099816" cy="0"/>
          </a:xfrm>
          <a:prstGeom prst="straightConnector1">
            <a:avLst/>
          </a:prstGeom>
          <a:noFill/>
          <a:ln cap="flat" cmpd="sng" w="254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6"/>
          <p:cNvSpPr/>
          <p:nvPr/>
        </p:nvSpPr>
        <p:spPr>
          <a:xfrm>
            <a:off x="4581144" y="1810512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Packaging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81144" y="2267712"/>
            <a:ext cx="3026664" cy="2423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Do description length, title style, and other metadata relate to engagement?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028432" y="1554480"/>
            <a:ext cx="3429000" cy="3291840"/>
          </a:xfrm>
          <a:prstGeom prst="roundRect">
            <a:avLst>
              <a:gd fmla="val 2222" name="adj"/>
            </a:avLst>
          </a:prstGeom>
          <a:solidFill>
            <a:srgbClr val="ECFBF8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6"/>
          <p:cNvCxnSpPr/>
          <p:nvPr/>
        </p:nvCxnSpPr>
        <p:spPr>
          <a:xfrm>
            <a:off x="8193024" y="1719072"/>
            <a:ext cx="3099816" cy="0"/>
          </a:xfrm>
          <a:prstGeom prst="straightConnector1">
            <a:avLst/>
          </a:prstGeom>
          <a:noFill/>
          <a:ln cap="flat" cmpd="sng" w="25400">
            <a:solidFill>
              <a:srgbClr val="13A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6"/>
          <p:cNvSpPr/>
          <p:nvPr/>
        </p:nvSpPr>
        <p:spPr>
          <a:xfrm>
            <a:off x="8229600" y="1810512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Reach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229600" y="2267712"/>
            <a:ext cx="3026664" cy="2423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Is language connected with broader cross-country spread or stronger performance?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" name="Google Shape;97;p7"/>
          <p:cNvCxnSpPr/>
          <p:nvPr/>
        </p:nvCxnSpPr>
        <p:spPr>
          <a:xfrm>
            <a:off x="502920" y="402336"/>
            <a:ext cx="219456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7"/>
          <p:cNvSpPr/>
          <p:nvPr/>
        </p:nvSpPr>
        <p:spPr>
          <a:xfrm>
            <a:off x="502920" y="530352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WHY BOTH ROW-LEVEL AND VIDEO-LEVEL TABLES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Two analysis grains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868680" y="1645920"/>
            <a:ext cx="4937760" cy="3566160"/>
          </a:xfrm>
          <a:prstGeom prst="roundRect">
            <a:avLst>
              <a:gd fmla="val 2051" name="adj"/>
            </a:avLst>
          </a:prstGeom>
          <a:solidFill>
            <a:srgbClr val="EEF4F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7"/>
          <p:cNvCxnSpPr/>
          <p:nvPr/>
        </p:nvCxnSpPr>
        <p:spPr>
          <a:xfrm>
            <a:off x="1033272" y="1810512"/>
            <a:ext cx="4608576" cy="0"/>
          </a:xfrm>
          <a:prstGeom prst="straightConnector1">
            <a:avLst/>
          </a:prstGeom>
          <a:noFill/>
          <a:ln cap="flat" cmpd="sng" w="254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7"/>
          <p:cNvSpPr/>
          <p:nvPr/>
        </p:nvSpPr>
        <p:spPr>
          <a:xfrm>
            <a:off x="1069848" y="1901952"/>
            <a:ext cx="45354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Row-level table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069848" y="2359152"/>
            <a:ext cx="4535424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One row = one trending appearance for one country on one snapshot date.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Best for engagement distributions, weekday comparisons, and modeling.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355080" y="1645920"/>
            <a:ext cx="4937760" cy="3566160"/>
          </a:xfrm>
          <a:prstGeom prst="roundRect">
            <a:avLst>
              <a:gd fmla="val 2051" name="adj"/>
            </a:avLst>
          </a:prstGeom>
          <a:solidFill>
            <a:srgbClr val="ECFBF8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" name="Google Shape;105;p7"/>
          <p:cNvCxnSpPr/>
          <p:nvPr/>
        </p:nvCxnSpPr>
        <p:spPr>
          <a:xfrm>
            <a:off x="6519672" y="1810512"/>
            <a:ext cx="4608576" cy="0"/>
          </a:xfrm>
          <a:prstGeom prst="straightConnector1">
            <a:avLst/>
          </a:prstGeom>
          <a:noFill/>
          <a:ln cap="flat" cmpd="sng" w="25400">
            <a:solidFill>
              <a:srgbClr val="13A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7"/>
          <p:cNvSpPr/>
          <p:nvPr/>
        </p:nvSpPr>
        <p:spPr>
          <a:xfrm>
            <a:off x="6556248" y="1901952"/>
            <a:ext cx="45354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Video-level table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556248" y="2359152"/>
            <a:ext cx="4535424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One row = the first observed appearance for a unique video.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Best for timing-to-trend and cross-country reach without overweighting repeated appearances.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8"/>
          <p:cNvCxnSpPr/>
          <p:nvPr/>
        </p:nvCxnSpPr>
        <p:spPr>
          <a:xfrm>
            <a:off x="502920" y="402336"/>
            <a:ext cx="219456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8"/>
          <p:cNvSpPr/>
          <p:nvPr/>
        </p:nvSpPr>
        <p:spPr>
          <a:xfrm>
            <a:off x="502920" y="530352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Finding 1: trending is fast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lide_rebuild2/chart_days_to_trend.png"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29918"/>
            <a:ext cx="7040880" cy="387248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8046720" y="1691640"/>
            <a:ext cx="3291840" cy="1325880"/>
          </a:xfrm>
          <a:prstGeom prst="roundRect">
            <a:avLst>
              <a:gd fmla="val 5517" name="adj"/>
            </a:avLst>
          </a:prstGeom>
          <a:solidFill>
            <a:srgbClr val="FFF1E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p8"/>
          <p:cNvCxnSpPr/>
          <p:nvPr/>
        </p:nvCxnSpPr>
        <p:spPr>
          <a:xfrm>
            <a:off x="8211312" y="1856232"/>
            <a:ext cx="2962656" cy="0"/>
          </a:xfrm>
          <a:prstGeom prst="straightConnector1">
            <a:avLst/>
          </a:prstGeom>
          <a:noFill/>
          <a:ln cap="flat" cmpd="sng" w="25400">
            <a:solidFill>
              <a:srgbClr val="E84C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8"/>
          <p:cNvSpPr/>
          <p:nvPr/>
        </p:nvSpPr>
        <p:spPr>
          <a:xfrm>
            <a:off x="8247888" y="1947672"/>
            <a:ext cx="2889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85% within 7 days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8247888" y="2404872"/>
            <a:ext cx="2889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Most videos reach their first trending appearance very soon after publish.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8046720" y="3246120"/>
            <a:ext cx="3291840" cy="1325880"/>
          </a:xfrm>
          <a:prstGeom prst="roundRect">
            <a:avLst>
              <a:gd fmla="val 5517" name="adj"/>
            </a:avLst>
          </a:prstGeom>
          <a:solidFill>
            <a:srgbClr val="EEF4F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8"/>
          <p:cNvCxnSpPr/>
          <p:nvPr/>
        </p:nvCxnSpPr>
        <p:spPr>
          <a:xfrm>
            <a:off x="8211312" y="3410712"/>
            <a:ext cx="2962656" cy="0"/>
          </a:xfrm>
          <a:prstGeom prst="straightConnector1">
            <a:avLst/>
          </a:prstGeom>
          <a:noFill/>
          <a:ln cap="flat" cmpd="sng" w="254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8"/>
          <p:cNvSpPr/>
          <p:nvPr/>
        </p:nvSpPr>
        <p:spPr>
          <a:xfrm>
            <a:off x="8247888" y="3502152"/>
            <a:ext cx="2889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Median = 3 days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8247888" y="3959352"/>
            <a:ext cx="2889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The operational window for promotion looks short and front-loaded.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" name="Google Shape;132;p9"/>
          <p:cNvCxnSpPr/>
          <p:nvPr/>
        </p:nvCxnSpPr>
        <p:spPr>
          <a:xfrm>
            <a:off x="502920" y="402336"/>
            <a:ext cx="219456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9"/>
          <p:cNvSpPr/>
          <p:nvPr/>
        </p:nvSpPr>
        <p:spPr>
          <a:xfrm>
            <a:off x="502920" y="530352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Finding 2: publish day matters modestly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lide_rebuild2/chart_weekday_engagement.png"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700784"/>
            <a:ext cx="6949440" cy="3822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9"/>
          <p:cNvSpPr/>
          <p:nvPr/>
        </p:nvSpPr>
        <p:spPr>
          <a:xfrm>
            <a:off x="8028432" y="1737360"/>
            <a:ext cx="3383280" cy="1417320"/>
          </a:xfrm>
          <a:prstGeom prst="roundRect">
            <a:avLst>
              <a:gd fmla="val 5161" name="adj"/>
            </a:avLst>
          </a:prstGeom>
          <a:solidFill>
            <a:srgbClr val="ECFBF8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9"/>
          <p:cNvCxnSpPr/>
          <p:nvPr/>
        </p:nvCxnSpPr>
        <p:spPr>
          <a:xfrm>
            <a:off x="8193024" y="1901952"/>
            <a:ext cx="3054096" cy="0"/>
          </a:xfrm>
          <a:prstGeom prst="straightConnector1">
            <a:avLst/>
          </a:prstGeom>
          <a:noFill/>
          <a:ln cap="flat" cmpd="sng" w="25400">
            <a:solidFill>
              <a:srgbClr val="13A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9"/>
          <p:cNvSpPr/>
          <p:nvPr/>
        </p:nvSpPr>
        <p:spPr>
          <a:xfrm>
            <a:off x="8229600" y="1993392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Friday leads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8229600" y="2450592"/>
            <a:ext cx="29809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Median likes-to-views ratio is about 3.39% on Friday vs. 2.91% on Sunday.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8028432" y="3474720"/>
            <a:ext cx="3383280" cy="1188720"/>
          </a:xfrm>
          <a:prstGeom prst="roundRect">
            <a:avLst>
              <a:gd fmla="val 6154" name="adj"/>
            </a:avLst>
          </a:prstGeom>
          <a:solidFill>
            <a:srgbClr val="F8FAFC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9"/>
          <p:cNvCxnSpPr/>
          <p:nvPr/>
        </p:nvCxnSpPr>
        <p:spPr>
          <a:xfrm>
            <a:off x="8193024" y="3639312"/>
            <a:ext cx="3054096" cy="0"/>
          </a:xfrm>
          <a:prstGeom prst="straightConnector1">
            <a:avLst/>
          </a:prstGeom>
          <a:noFill/>
          <a:ln cap="flat" cmpd="sng" w="254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9"/>
          <p:cNvSpPr/>
          <p:nvPr/>
        </p:nvSpPr>
        <p:spPr>
          <a:xfrm>
            <a:off x="8229600" y="3730752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Takeaway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229600" y="4187952"/>
            <a:ext cx="29809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The effect is not huge, but it is directionally useful for scheduling.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" name="Google Shape;150;p10"/>
          <p:cNvCxnSpPr/>
          <p:nvPr/>
        </p:nvCxnSpPr>
        <p:spPr>
          <a:xfrm>
            <a:off x="502920" y="402336"/>
            <a:ext cx="219456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0"/>
          <p:cNvSpPr/>
          <p:nvPr/>
        </p:nvSpPr>
        <p:spPr>
          <a:xfrm>
            <a:off x="502920" y="530352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METADATA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Finding 3: longer descriptions are not a guarantee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lide_rebuild2/chart_description_quartiles.png"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53845"/>
            <a:ext cx="6675120" cy="391607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/>
          <p:nvPr/>
        </p:nvSpPr>
        <p:spPr>
          <a:xfrm>
            <a:off x="7818125" y="1783075"/>
            <a:ext cx="3566100" cy="1485300"/>
          </a:xfrm>
          <a:prstGeom prst="roundRect">
            <a:avLst>
              <a:gd fmla="val 5161" name="adj"/>
            </a:avLst>
          </a:prstGeom>
          <a:solidFill>
            <a:srgbClr val="FFF4E8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10"/>
          <p:cNvCxnSpPr/>
          <p:nvPr/>
        </p:nvCxnSpPr>
        <p:spPr>
          <a:xfrm>
            <a:off x="7982712" y="1947672"/>
            <a:ext cx="3236976" cy="0"/>
          </a:xfrm>
          <a:prstGeom prst="straightConnector1">
            <a:avLst/>
          </a:prstGeom>
          <a:noFill/>
          <a:ln cap="flat" cmpd="sng" w="254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0"/>
          <p:cNvSpPr/>
          <p:nvPr/>
        </p:nvSpPr>
        <p:spPr>
          <a:xfrm>
            <a:off x="8019288" y="2039112"/>
            <a:ext cx="3163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Q4 is not best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8019288" y="2539175"/>
            <a:ext cx="316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18324A"/>
                </a:solidFill>
              </a:rPr>
              <a:t>Q represent quartiles for shortest to longest descriptions. </a:t>
            </a: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The longest descriptions show lower median engagement than the middle quartiles.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7818125" y="3474725"/>
            <a:ext cx="3566100" cy="1304400"/>
          </a:xfrm>
          <a:prstGeom prst="roundRect">
            <a:avLst>
              <a:gd fmla="val 6154" name="adj"/>
            </a:avLst>
          </a:prstGeom>
          <a:solidFill>
            <a:srgbClr val="EEF4F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" name="Google Shape;159;p10"/>
          <p:cNvCxnSpPr/>
          <p:nvPr/>
        </p:nvCxnSpPr>
        <p:spPr>
          <a:xfrm>
            <a:off x="7982712" y="3639312"/>
            <a:ext cx="3236976" cy="0"/>
          </a:xfrm>
          <a:prstGeom prst="straightConnector1">
            <a:avLst/>
          </a:prstGeom>
          <a:noFill/>
          <a:ln cap="flat" cmpd="sng" w="254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0"/>
          <p:cNvSpPr/>
          <p:nvPr/>
        </p:nvSpPr>
        <p:spPr>
          <a:xfrm>
            <a:off x="8019288" y="3730752"/>
            <a:ext cx="3163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Takeaway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8019300" y="4187950"/>
            <a:ext cx="3285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8324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Quality and clarity seem more important than simply adding more text.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3834933" y="5349100"/>
            <a:ext cx="468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lang="en-US" sz="950">
                <a:solidFill>
                  <a:srgbClr val="18324A"/>
                </a:solidFill>
              </a:rPr>
              <a:t>Quartile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11"/>
          <p:cNvCxnSpPr/>
          <p:nvPr/>
        </p:nvCxnSpPr>
        <p:spPr>
          <a:xfrm>
            <a:off x="502920" y="402336"/>
            <a:ext cx="219456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502920" y="530352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REACH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Finding 4: language is tied to both reach and engagement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lide_rebuild2/chart_language_scatter.png"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325880"/>
            <a:ext cx="73152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/>
          <p:nvPr/>
        </p:nvSpPr>
        <p:spPr>
          <a:xfrm>
            <a:off x="8183880" y="1508760"/>
            <a:ext cx="3108960" cy="1600200"/>
          </a:xfrm>
          <a:prstGeom prst="roundRect">
            <a:avLst>
              <a:gd fmla="val 4571" name="adj"/>
            </a:avLst>
          </a:prstGeom>
          <a:solidFill>
            <a:srgbClr val="EEF4F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1"/>
          <p:cNvCxnSpPr/>
          <p:nvPr/>
        </p:nvCxnSpPr>
        <p:spPr>
          <a:xfrm>
            <a:off x="8348472" y="1673352"/>
            <a:ext cx="2779776" cy="0"/>
          </a:xfrm>
          <a:prstGeom prst="straightConnector1">
            <a:avLst/>
          </a:prstGeom>
          <a:noFill/>
          <a:ln cap="flat" cmpd="sng" w="254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11"/>
          <p:cNvSpPr/>
          <p:nvPr/>
        </p:nvSpPr>
        <p:spPr>
          <a:xfrm>
            <a:off x="8385048" y="1764792"/>
            <a:ext cx="2706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English spreads widest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8385048" y="2221992"/>
            <a:ext cx="27066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English videos have the broadest average country span among large language groups.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183880" y="3383280"/>
            <a:ext cx="3108960" cy="1600200"/>
          </a:xfrm>
          <a:prstGeom prst="roundRect">
            <a:avLst>
              <a:gd fmla="val 4571" name="adj"/>
            </a:avLst>
          </a:prstGeom>
          <a:solidFill>
            <a:srgbClr val="ECFBF8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" name="Google Shape;178;p11"/>
          <p:cNvCxnSpPr/>
          <p:nvPr/>
        </p:nvCxnSpPr>
        <p:spPr>
          <a:xfrm>
            <a:off x="8348472" y="3547872"/>
            <a:ext cx="2779776" cy="0"/>
          </a:xfrm>
          <a:prstGeom prst="straightConnector1">
            <a:avLst/>
          </a:prstGeom>
          <a:noFill/>
          <a:ln cap="flat" cmpd="sng" w="25400">
            <a:solidFill>
              <a:srgbClr val="13A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1"/>
          <p:cNvSpPr/>
          <p:nvPr/>
        </p:nvSpPr>
        <p:spPr>
          <a:xfrm>
            <a:off x="8385048" y="3639312"/>
            <a:ext cx="2706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Engagement differs too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8385048" y="4096512"/>
            <a:ext cx="27066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Arabic, French, and German show relatively strong median likes-to-views in this sample.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7" name="Google Shape;187;p12"/>
          <p:cNvCxnSpPr/>
          <p:nvPr/>
        </p:nvCxnSpPr>
        <p:spPr>
          <a:xfrm>
            <a:off x="502920" y="402336"/>
            <a:ext cx="219456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2"/>
          <p:cNvSpPr/>
          <p:nvPr/>
        </p:nvSpPr>
        <p:spPr>
          <a:xfrm>
            <a:off x="502920" y="530352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PREDICTIVE STEP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Modeling setup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731520" y="1554480"/>
            <a:ext cx="3429000" cy="3474720"/>
          </a:xfrm>
          <a:prstGeom prst="roundRect">
            <a:avLst>
              <a:gd fmla="val 2133" name="adj"/>
            </a:avLst>
          </a:prstGeom>
          <a:solidFill>
            <a:srgbClr val="EEF4F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12"/>
          <p:cNvCxnSpPr/>
          <p:nvPr/>
        </p:nvCxnSpPr>
        <p:spPr>
          <a:xfrm>
            <a:off x="896112" y="1719072"/>
            <a:ext cx="3099816" cy="0"/>
          </a:xfrm>
          <a:prstGeom prst="straightConnector1">
            <a:avLst/>
          </a:prstGeom>
          <a:noFill/>
          <a:ln cap="flat" cmpd="sng" w="254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2"/>
          <p:cNvSpPr/>
          <p:nvPr/>
        </p:nvSpPr>
        <p:spPr>
          <a:xfrm>
            <a:off x="932688" y="1810512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Target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932688" y="2267712"/>
            <a:ext cx="3026664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Classify whether a trending entry lands in the high-engagement group, defined from the 2024 training distribution.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4379976" y="1554480"/>
            <a:ext cx="3429000" cy="3474720"/>
          </a:xfrm>
          <a:prstGeom prst="roundRect">
            <a:avLst>
              <a:gd fmla="val 2133" name="adj"/>
            </a:avLst>
          </a:prstGeom>
          <a:solidFill>
            <a:srgbClr val="ECFBF8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" name="Google Shape;195;p12"/>
          <p:cNvCxnSpPr/>
          <p:nvPr/>
        </p:nvCxnSpPr>
        <p:spPr>
          <a:xfrm>
            <a:off x="4544568" y="1719072"/>
            <a:ext cx="3099816" cy="0"/>
          </a:xfrm>
          <a:prstGeom prst="straightConnector1">
            <a:avLst/>
          </a:prstGeom>
          <a:noFill/>
          <a:ln cap="flat" cmpd="sng" w="25400">
            <a:solidFill>
              <a:srgbClr val="13A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2"/>
          <p:cNvSpPr/>
          <p:nvPr/>
        </p:nvSpPr>
        <p:spPr>
          <a:xfrm>
            <a:off x="4581144" y="1810512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Split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4581144" y="2267712"/>
            <a:ext cx="3026664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Train on 2024 and test on 2025 so the model is evaluated on later unseen data, not a random mix of both years.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8028432" y="1554480"/>
            <a:ext cx="3429000" cy="3474720"/>
          </a:xfrm>
          <a:prstGeom prst="roundRect">
            <a:avLst>
              <a:gd fmla="val 2133" name="adj"/>
            </a:avLst>
          </a:prstGeom>
          <a:solidFill>
            <a:srgbClr val="FFF4E8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" name="Google Shape;199;p12"/>
          <p:cNvCxnSpPr/>
          <p:nvPr/>
        </p:nvCxnSpPr>
        <p:spPr>
          <a:xfrm>
            <a:off x="8193024" y="1719072"/>
            <a:ext cx="3099816" cy="0"/>
          </a:xfrm>
          <a:prstGeom prst="straightConnector1">
            <a:avLst/>
          </a:prstGeom>
          <a:noFill/>
          <a:ln cap="flat" cmpd="sng" w="254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2"/>
          <p:cNvSpPr/>
          <p:nvPr/>
        </p:nvSpPr>
        <p:spPr>
          <a:xfrm>
            <a:off x="8229600" y="1810512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Models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8229600" y="2267712"/>
            <a:ext cx="3026664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Baseline Logistic Regression and a final Random Forest using engineered timing, metadata, and language features.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13"/>
          <p:cNvCxnSpPr/>
          <p:nvPr/>
        </p:nvCxnSpPr>
        <p:spPr>
          <a:xfrm>
            <a:off x="502920" y="402336"/>
            <a:ext cx="219456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3"/>
          <p:cNvSpPr/>
          <p:nvPr/>
        </p:nvSpPr>
        <p:spPr>
          <a:xfrm>
            <a:off x="502920" y="530352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PREDICTION REVIEW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Model results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777240" y="1417320"/>
            <a:ext cx="2148840" cy="1234440"/>
          </a:xfrm>
          <a:prstGeom prst="roundRect">
            <a:avLst>
              <a:gd fmla="val 4444" name="adj"/>
            </a:avLst>
          </a:prstGeom>
          <a:solidFill>
            <a:srgbClr val="EEF4F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p13"/>
          <p:cNvCxnSpPr/>
          <p:nvPr/>
        </p:nvCxnSpPr>
        <p:spPr>
          <a:xfrm>
            <a:off x="923544" y="1563624"/>
            <a:ext cx="1856232" cy="0"/>
          </a:xfrm>
          <a:prstGeom prst="straightConnector1">
            <a:avLst/>
          </a:prstGeom>
          <a:noFill/>
          <a:ln cap="flat" cmpd="sng" w="3047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13"/>
          <p:cNvSpPr/>
          <p:nvPr/>
        </p:nvSpPr>
        <p:spPr>
          <a:xfrm>
            <a:off x="941832" y="1673352"/>
            <a:ext cx="18196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900"/>
              <a:buFont typeface="Play"/>
              <a:buNone/>
            </a:pPr>
            <a:r>
              <a:rPr b="1" i="0" lang="en-US" sz="19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0.71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941832" y="2103120"/>
            <a:ext cx="18196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48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E7488"/>
                </a:solidFill>
                <a:latin typeface="Arial"/>
                <a:ea typeface="Arial"/>
                <a:cs typeface="Arial"/>
                <a:sym typeface="Arial"/>
              </a:rPr>
              <a:t>Random Forest ROC-AUC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3154680" y="1417320"/>
            <a:ext cx="2148840" cy="1234440"/>
          </a:xfrm>
          <a:prstGeom prst="roundRect">
            <a:avLst>
              <a:gd fmla="val 4444" name="adj"/>
            </a:avLst>
          </a:prstGeom>
          <a:solidFill>
            <a:srgbClr val="ECFBF8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13"/>
          <p:cNvCxnSpPr/>
          <p:nvPr/>
        </p:nvCxnSpPr>
        <p:spPr>
          <a:xfrm>
            <a:off x="3300984" y="1563624"/>
            <a:ext cx="1856232" cy="0"/>
          </a:xfrm>
          <a:prstGeom prst="straightConnector1">
            <a:avLst/>
          </a:prstGeom>
          <a:noFill/>
          <a:ln cap="flat" cmpd="sng" w="30475">
            <a:solidFill>
              <a:srgbClr val="13A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3"/>
          <p:cNvSpPr/>
          <p:nvPr/>
        </p:nvSpPr>
        <p:spPr>
          <a:xfrm>
            <a:off x="3319272" y="1673352"/>
            <a:ext cx="18196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900"/>
              <a:buFont typeface="Play"/>
              <a:buNone/>
            </a:pPr>
            <a:r>
              <a:rPr b="1" i="0" lang="en-US" sz="19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44.9%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3319272" y="2103120"/>
            <a:ext cx="18196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48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E7488"/>
                </a:solidFill>
                <a:latin typeface="Arial"/>
                <a:ea typeface="Arial"/>
                <a:cs typeface="Arial"/>
                <a:sym typeface="Arial"/>
              </a:rPr>
              <a:t>Actual high-engagement rate in top 10%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5532120" y="1417320"/>
            <a:ext cx="2148840" cy="1234440"/>
          </a:xfrm>
          <a:prstGeom prst="roundRect">
            <a:avLst>
              <a:gd fmla="val 4444" name="adj"/>
            </a:avLst>
          </a:prstGeom>
          <a:solidFill>
            <a:srgbClr val="FFF1E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" name="Google Shape;220;p13"/>
          <p:cNvCxnSpPr/>
          <p:nvPr/>
        </p:nvCxnSpPr>
        <p:spPr>
          <a:xfrm>
            <a:off x="5678424" y="1563624"/>
            <a:ext cx="1856232" cy="0"/>
          </a:xfrm>
          <a:prstGeom prst="straightConnector1">
            <a:avLst/>
          </a:prstGeom>
          <a:noFill/>
          <a:ln cap="flat" cmpd="sng" w="30475">
            <a:solidFill>
              <a:srgbClr val="E84C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3"/>
          <p:cNvSpPr/>
          <p:nvPr/>
        </p:nvSpPr>
        <p:spPr>
          <a:xfrm>
            <a:off x="5696712" y="1673352"/>
            <a:ext cx="18196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900"/>
              <a:buFont typeface="Play"/>
              <a:buNone/>
            </a:pPr>
            <a:r>
              <a:rPr b="1" i="0" lang="en-US" sz="19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4.4%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5696712" y="2103120"/>
            <a:ext cx="18196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48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E7488"/>
                </a:solidFill>
                <a:latin typeface="Arial"/>
                <a:ea typeface="Arial"/>
                <a:cs typeface="Arial"/>
                <a:sym typeface="Arial"/>
              </a:rPr>
              <a:t>Actual high-engagement rate in bottom 10%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lide_rebuild2/chart_model_deciles.png" id="223" name="Google Shape;2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171" y="2788920"/>
            <a:ext cx="4528457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3"/>
          <p:cNvSpPr/>
          <p:nvPr/>
        </p:nvSpPr>
        <p:spPr>
          <a:xfrm>
            <a:off x="6492240" y="2971800"/>
            <a:ext cx="4892040" cy="2148840"/>
          </a:xfrm>
          <a:prstGeom prst="roundRect">
            <a:avLst>
              <a:gd fmla="val 3404" name="adj"/>
            </a:avLst>
          </a:prstGeom>
          <a:solidFill>
            <a:srgbClr val="F8FAFC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5" name="Google Shape;225;p13"/>
          <p:cNvCxnSpPr/>
          <p:nvPr/>
        </p:nvCxnSpPr>
        <p:spPr>
          <a:xfrm>
            <a:off x="6656832" y="3136392"/>
            <a:ext cx="4562856" cy="0"/>
          </a:xfrm>
          <a:prstGeom prst="straightConnector1">
            <a:avLst/>
          </a:prstGeom>
          <a:noFill/>
          <a:ln cap="flat" cmpd="sng" w="254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3"/>
          <p:cNvSpPr/>
          <p:nvPr/>
        </p:nvSpPr>
        <p:spPr>
          <a:xfrm>
            <a:off x="6693408" y="3227832"/>
            <a:ext cx="4489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Takeaway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6693408" y="3685032"/>
            <a:ext cx="44897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The model separates stronger from weaker cases well enough to support prioritization. It should guide decisions, not replace editorial judgment.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4" name="Google Shape;234;p14"/>
          <p:cNvCxnSpPr/>
          <p:nvPr/>
        </p:nvCxnSpPr>
        <p:spPr>
          <a:xfrm>
            <a:off x="502920" y="402336"/>
            <a:ext cx="219456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4"/>
          <p:cNvSpPr/>
          <p:nvPr/>
        </p:nvSpPr>
        <p:spPr>
          <a:xfrm>
            <a:off x="502920" y="530352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Recommendations for the client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731520" y="1645920"/>
            <a:ext cx="3429000" cy="3246120"/>
          </a:xfrm>
          <a:prstGeom prst="roundRect">
            <a:avLst>
              <a:gd fmla="val 2254" name="adj"/>
            </a:avLst>
          </a:prstGeom>
          <a:solidFill>
            <a:srgbClr val="FFF1E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14"/>
          <p:cNvCxnSpPr/>
          <p:nvPr/>
        </p:nvCxnSpPr>
        <p:spPr>
          <a:xfrm>
            <a:off x="896112" y="1810512"/>
            <a:ext cx="3099816" cy="0"/>
          </a:xfrm>
          <a:prstGeom prst="straightConnector1">
            <a:avLst/>
          </a:prstGeom>
          <a:noFill/>
          <a:ln cap="flat" cmpd="sng" w="25400">
            <a:solidFill>
              <a:srgbClr val="E84C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4"/>
          <p:cNvSpPr/>
          <p:nvPr/>
        </p:nvSpPr>
        <p:spPr>
          <a:xfrm>
            <a:off x="932688" y="1901952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1. Front-load promotion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932688" y="2359152"/>
            <a:ext cx="3026664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Because most first appearances happen within a week, concentrate launch support in the first few days after publish.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4379976" y="1645920"/>
            <a:ext cx="3429000" cy="3246120"/>
          </a:xfrm>
          <a:prstGeom prst="roundRect">
            <a:avLst>
              <a:gd fmla="val 2254" name="adj"/>
            </a:avLst>
          </a:prstGeom>
          <a:solidFill>
            <a:srgbClr val="EEF4FF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14"/>
          <p:cNvCxnSpPr/>
          <p:nvPr/>
        </p:nvCxnSpPr>
        <p:spPr>
          <a:xfrm>
            <a:off x="4544568" y="1810512"/>
            <a:ext cx="3099816" cy="0"/>
          </a:xfrm>
          <a:prstGeom prst="straightConnector1">
            <a:avLst/>
          </a:prstGeom>
          <a:noFill/>
          <a:ln cap="flat" cmpd="sng" w="254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4"/>
          <p:cNvSpPr/>
          <p:nvPr/>
        </p:nvSpPr>
        <p:spPr>
          <a:xfrm>
            <a:off x="4581144" y="1901952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2. Optimize packaging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581144" y="2359152"/>
            <a:ext cx="3026664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Use publish timing, concise descriptions, and language-aware metadata as controllable levers to improve engagement.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8028432" y="1645920"/>
            <a:ext cx="3429000" cy="3246120"/>
          </a:xfrm>
          <a:prstGeom prst="roundRect">
            <a:avLst>
              <a:gd fmla="val 2254" name="adj"/>
            </a:avLst>
          </a:prstGeom>
          <a:solidFill>
            <a:srgbClr val="ECFBF8"/>
          </a:solidFill>
          <a:ln cap="flat" cmpd="sng" w="12700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" name="Google Shape;246;p14"/>
          <p:cNvCxnSpPr/>
          <p:nvPr/>
        </p:nvCxnSpPr>
        <p:spPr>
          <a:xfrm>
            <a:off x="8193024" y="1810512"/>
            <a:ext cx="3099816" cy="0"/>
          </a:xfrm>
          <a:prstGeom prst="straightConnector1">
            <a:avLst/>
          </a:prstGeom>
          <a:noFill/>
          <a:ln cap="flat" cmpd="sng" w="25400">
            <a:solidFill>
              <a:srgbClr val="13A3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14"/>
          <p:cNvSpPr/>
          <p:nvPr/>
        </p:nvSpPr>
        <p:spPr>
          <a:xfrm>
            <a:off x="8229600" y="1901952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3. Use </a:t>
            </a:r>
            <a:r>
              <a:rPr b="1" lang="en-US" sz="1600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Engagment Metrics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8229600" y="2359152"/>
            <a:ext cx="3026664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18324A"/>
                </a:solidFill>
              </a:rPr>
              <a:t>Use early performance signals to prioritize which trending videos to support more aggressively.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5" name="Google Shape;255;p15"/>
          <p:cNvCxnSpPr/>
          <p:nvPr/>
        </p:nvCxnSpPr>
        <p:spPr>
          <a:xfrm>
            <a:off x="502920" y="402336"/>
            <a:ext cx="2194560" cy="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5"/>
          <p:cNvSpPr/>
          <p:nvPr/>
        </p:nvSpPr>
        <p:spPr>
          <a:xfrm>
            <a:off x="502920" y="530352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WHAT TO IMPROVE NEXT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502920" y="74980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8324A"/>
                </a:solidFill>
                <a:latin typeface="Play"/>
                <a:ea typeface="Play"/>
                <a:cs typeface="Play"/>
                <a:sym typeface="Play"/>
              </a:rPr>
              <a:t>Limitations and future work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502920" y="13258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488"/>
              </a:buClr>
              <a:buSzPts val="1550"/>
              <a:buFont typeface="Arial"/>
              <a:buNone/>
            </a:pPr>
            <a:r>
              <a:rPr b="1" i="0" lang="en-US" sz="2050" u="none" cap="none" strike="noStrike">
                <a:solidFill>
                  <a:srgbClr val="5E7488"/>
                </a:solidFill>
                <a:latin typeface="Arial"/>
                <a:ea typeface="Arial"/>
                <a:cs typeface="Arial"/>
                <a:sym typeface="Arial"/>
              </a:rPr>
              <a:t>Current limits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6309360" y="13258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488"/>
              </a:buClr>
              <a:buSzPts val="1550"/>
              <a:buFont typeface="Arial"/>
              <a:buNone/>
            </a:pPr>
            <a:r>
              <a:rPr b="1" i="0" lang="en-US" sz="2050" u="none" cap="none" strike="noStrike">
                <a:solidFill>
                  <a:srgbClr val="5E7488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502920" y="1828800"/>
            <a:ext cx="493776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The dataset only contains videos that already trended.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Results are about performance inside the trending sample, not about whether any upload will trend at all.</a:t>
            </a:r>
            <a:endParaRPr b="0" i="0" sz="1700" u="none" cap="none" strike="noStrike">
              <a:solidFill>
                <a:srgbClr val="1832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700"/>
              <a:buChar char="•"/>
            </a:pPr>
            <a:r>
              <a:rPr lang="en-US" sz="1700">
                <a:solidFill>
                  <a:srgbClr val="18324A"/>
                </a:solidFill>
              </a:rPr>
              <a:t>We also may need to consider artificial </a:t>
            </a:r>
            <a:r>
              <a:rPr lang="en-US" sz="1700">
                <a:solidFill>
                  <a:srgbClr val="18324A"/>
                </a:solidFill>
              </a:rPr>
              <a:t>engagement</a:t>
            </a:r>
            <a:r>
              <a:rPr lang="en-US" sz="1700">
                <a:solidFill>
                  <a:srgbClr val="18324A"/>
                </a:solidFill>
              </a:rPr>
              <a:t> by bots.</a:t>
            </a:r>
            <a:endParaRPr sz="1700">
              <a:solidFill>
                <a:srgbClr val="18324A"/>
              </a:solidFill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6309360" y="1828800"/>
            <a:ext cx="493776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Add richer NLP features from titles and descriptions.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Test a random-split benchmark next to the time-based split.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8324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8324A"/>
                </a:solidFill>
                <a:latin typeface="Arial"/>
                <a:ea typeface="Arial"/>
                <a:cs typeface="Arial"/>
                <a:sym typeface="Arial"/>
              </a:rPr>
              <a:t>Bring in channel history or content category features if available.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